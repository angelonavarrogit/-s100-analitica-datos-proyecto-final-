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6177B8-333B-4EF5-9BA0-663B24697746}" v="16" dt="2026-09-23T23:21:42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o Navarro P." userId="84f1f28ffd802a16" providerId="LiveId" clId="{567F6524-82BA-4F19-88DA-9A6535D83FCC}"/>
    <pc:docChg chg="modSld">
      <pc:chgData name="Angelo Navarro P." userId="84f1f28ffd802a16" providerId="LiveId" clId="{567F6524-82BA-4F19-88DA-9A6535D83FCC}" dt="2026-09-23T23:21:44.745" v="12"/>
      <pc:docMkLst>
        <pc:docMk/>
      </pc:docMkLst>
      <pc:sldChg chg="addSp modSp">
        <pc:chgData name="Angelo Navarro P." userId="84f1f28ffd802a16" providerId="LiveId" clId="{567F6524-82BA-4F19-88DA-9A6535D83FCC}" dt="2026-09-23T23:13:10.934" v="8"/>
        <pc:sldMkLst>
          <pc:docMk/>
          <pc:sldMk cId="0" sldId="256"/>
        </pc:sldMkLst>
        <pc:spChg chg="mod">
          <ac:chgData name="Angelo Navarro P." userId="84f1f28ffd802a16" providerId="LiveId" clId="{567F6524-82BA-4F19-88DA-9A6535D83FCC}" dt="2026-09-23T23:10:57.064" v="4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Angelo Navarro P." userId="84f1f28ffd802a16" providerId="LiveId" clId="{567F6524-82BA-4F19-88DA-9A6535D83FCC}" dt="2026-09-23T23:12:29.115" v="7"/>
          <ac:spMkLst>
            <pc:docMk/>
            <pc:sldMk cId="0" sldId="256"/>
            <ac:spMk id="10" creationId="{6C42064D-5939-90F3-0BF7-8903B03B8868}"/>
          </ac:spMkLst>
        </pc:spChg>
        <pc:picChg chg="add">
          <ac:chgData name="Angelo Navarro P." userId="84f1f28ffd802a16" providerId="LiveId" clId="{567F6524-82BA-4F19-88DA-9A6535D83FCC}" dt="2026-09-23T23:13:10.934" v="8"/>
          <ac:picMkLst>
            <pc:docMk/>
            <pc:sldMk cId="0" sldId="256"/>
            <ac:picMk id="11" creationId="{890DFEE6-58D1-365A-7CCF-C610D49B5886}"/>
          </ac:picMkLst>
        </pc:picChg>
      </pc:sldChg>
      <pc:sldChg chg="addSp delSp modSp">
        <pc:chgData name="Angelo Navarro P." userId="84f1f28ffd802a16" providerId="LiveId" clId="{567F6524-82BA-4F19-88DA-9A6535D83FCC}" dt="2026-09-23T23:20:57.863" v="10"/>
        <pc:sldMkLst>
          <pc:docMk/>
          <pc:sldMk cId="881185608" sldId="264"/>
        </pc:sldMkLst>
        <pc:spChg chg="add del mod">
          <ac:chgData name="Angelo Navarro P." userId="84f1f28ffd802a16" providerId="LiveId" clId="{567F6524-82BA-4F19-88DA-9A6535D83FCC}" dt="2026-09-23T23:20:57.863" v="10"/>
          <ac:spMkLst>
            <pc:docMk/>
            <pc:sldMk cId="881185608" sldId="264"/>
            <ac:spMk id="2" creationId="{3C3CBF79-4974-F369-79A9-46C86AC27A23}"/>
          </ac:spMkLst>
        </pc:spChg>
      </pc:sldChg>
      <pc:sldChg chg="addSp delSp modSp">
        <pc:chgData name="Angelo Navarro P." userId="84f1f28ffd802a16" providerId="LiveId" clId="{567F6524-82BA-4F19-88DA-9A6535D83FCC}" dt="2026-09-23T23:21:44.745" v="12"/>
        <pc:sldMkLst>
          <pc:docMk/>
          <pc:sldMk cId="3124365324" sldId="265"/>
        </pc:sldMkLst>
        <pc:spChg chg="add del mod">
          <ac:chgData name="Angelo Navarro P." userId="84f1f28ffd802a16" providerId="LiveId" clId="{567F6524-82BA-4F19-88DA-9A6535D83FCC}" dt="2026-09-23T23:21:44.745" v="12"/>
          <ac:spMkLst>
            <pc:docMk/>
            <pc:sldMk cId="3124365324" sldId="265"/>
            <ac:spMk id="11" creationId="{83F51A69-13E8-94AC-9B35-E5CADCE02A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403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Somos el Equipo 7 y en los próximos minutos les presentamos cómo pasamos de una variable objetivo con fuga de datos a un modelo que sí responde una pregunta de negocio real: qué tan pronto entra un título al catálogo de Netflix tras su estreno.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planteamiento original del proyecto: Netflix necesita saber dónde invertir en contenido. Para responderlo con un modelo predictivo, el equipo necesitaba primero elegir una variable objetivo — y ahí empezó el verdadero aprendizaje del proyecto, como van a ver en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profesor nos señaló que type tenía fuga de datos: duration predice type al 100%, listed_in también al 100% por las taxonomías paralelas de Netflix (ej. "Dramas" vs "TV Dramas"), y rating de forma parcial. Por eso redefinimos el objetivo a es_fresco, que sí conecta con la pregunta de negocio de dónde invertir.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nuestra hipótesis con dirección explícita, tal como pidió el profesor: no solo "hay diferencia", sino qué grupo entra más fresco y por cuánto. La confirmamos agrupando por tipo y calculando el porcentaje de frescos en cada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preguntan: country y listed_in son multietiqueta — tomamos el país principal (agrupando los que no están en el top 10 como "Otros") y generamos columnas binarias para los 15 géneros más frecuentes de listed_in.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exactitud es válida aquí: es_fresco está razonablemente balanceado (55%/45%), así que la exactitud es interpretable directamente; F1 complementa para no ignorar falsos positivos y negativos.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1 del white paper. Si preguntan por la matriz de confusión del árbol: de 1,760 casos de prueba, acierta 477 catálogo y 708 frescos; confunde 315 catálogo como frescos y 260 frescos como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reforzando el hilo conductor: pasamos de una variable con fuga de datos a una que sí conecta con la pregunta de negocio, validamos una hipótesis con dirección, y comparamos modelos honestamente en train y test.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D0291-0931-EB4C-544B-07796503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67A0A-BCF1-4D2B-E7F5-5D05E1F69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DE2D1-EC90-0F89-7D93-1DB13BB73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reforzando el hilo conductor: pasamos de una variable con fuga de datos a una que sí conecta con la pregunta de negocio, validamos una hipótesis con dirección, y comparamos modelos honestamente en train y test. Abrir a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06E22-BCDC-C35F-4CD7-00339EA8E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39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2332"/>
              </a:gs>
              <a:gs pos="100000">
                <a:srgbClr val="10161F"/>
              </a:gs>
            </a:gsLst>
            <a:lin ang="2700000" scaled="0"/>
          </a:gradFill>
          <a:ln/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PROYECTO FINAL · INTRODUCCIÓN A LA CIENCIA DE DATOS (S100)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229320"/>
            <a:ext cx="9810750" cy="134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5184"/>
              </a:lnSpc>
              <a:buNone/>
            </a:pPr>
            <a:r>
              <a:rPr lang="es-MX" sz="48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Detección de oportunidades de inversión en contenido a través del estudio del catálogo de Netflix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2749252"/>
            <a:ext cx="78486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¿Se puede predecir si un título entra "fresco" o "de catálogo" a partir de lo que ya sabemos de él?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796310"/>
            <a:ext cx="77117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82225" y="5814070"/>
            <a:ext cx="1247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Septiembre 2026</a:t>
            </a:r>
            <a:endParaRPr lang="en-US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42064D-5939-90F3-0BF7-8903B03B8868}"/>
              </a:ext>
            </a:extLst>
          </p:cNvPr>
          <p:cNvSpPr txBox="1"/>
          <p:nvPr/>
        </p:nvSpPr>
        <p:spPr>
          <a:xfrm>
            <a:off x="869950" y="3834063"/>
            <a:ext cx="39517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Integrantes: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Gabriel </a:t>
            </a:r>
            <a:r>
              <a:rPr lang="es-PA" dirty="0" err="1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Gomez</a:t>
            </a:r>
            <a:r>
              <a:rPr lang="es-PA" dirty="0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  6-722-2021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Angelo Navarro 8-893-1392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Derabin</a:t>
            </a:r>
            <a:r>
              <a:rPr lang="es-PA" dirty="0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lang="es-PA" dirty="0" err="1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Rodriguez</a:t>
            </a:r>
            <a:r>
              <a:rPr lang="es-PA" dirty="0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 8-709-121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Nefyasser</a:t>
            </a:r>
            <a:r>
              <a:rPr lang="es-PA" dirty="0">
                <a:solidFill>
                  <a:schemeClr val="bg1"/>
                </a:solidFill>
                <a:latin typeface="EB Garamond" panose="00000500000000000000" pitchFamily="2" charset="0"/>
                <a:ea typeface="EB Garamond" panose="00000500000000000000" pitchFamily="2" charset="0"/>
              </a:rPr>
              <a:t> Tapia PE-9-2323</a:t>
            </a:r>
          </a:p>
          <a:p>
            <a:endParaRPr lang="es-MX" dirty="0"/>
          </a:p>
          <a:p>
            <a:endParaRPr lang="es-PA" dirty="0"/>
          </a:p>
        </p:txBody>
      </p:sp>
      <p:pic>
        <p:nvPicPr>
          <p:cNvPr id="11" name="Imagen 10" descr="Logos para Medios Digitales | Universidad Tecnológica de Panamá">
            <a:extLst>
              <a:ext uri="{FF2B5EF4-FFF2-40B4-BE49-F238E27FC236}">
                <a16:creationId xmlns:a16="http://schemas.microsoft.com/office/drawing/2014/main" id="{890DFEE6-58D1-365A-7CCF-C610D49B5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262" y="410195"/>
            <a:ext cx="1043930" cy="1043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33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Contexto y pregunta de negocio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710160"/>
            <a:ext cx="5091013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Netflix enfrenta una desaceleración en el crecimiento de suscriptores y una competencia cada vez mayor. Sostener el crecimiento depende de ofrecer contenido atractivo y diferenciado, e identificar segmentos y mercados con potencial.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65106" y="1638895"/>
            <a:ext cx="5210919" cy="4199930"/>
          </a:xfrm>
          <a:prstGeom prst="roundRect">
            <a:avLst>
              <a:gd name="adj" fmla="val 3553"/>
            </a:avLst>
          </a:prstGeom>
          <a:solidFill>
            <a:srgbClr val="F1EEE7"/>
          </a:solidFill>
          <a:ln w="6350">
            <a:solidFill>
              <a:srgbClr val="E3DED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6523881" y="2915940"/>
            <a:ext cx="4628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75" dirty="0">
                <a:solidFill>
                  <a:srgbClr val="C81D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PREGUNTA DE NEGOCIO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23881" y="3281660"/>
            <a:ext cx="462817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¿Qué géneros y países de producción tienen mayor representación en el catálogo, y podrían ser oportunidades estratégicas de inversión en contenido?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7 · Netflix Titles Dataset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33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Repensando la variable objetivo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40470"/>
            <a:ext cx="5130800" cy="3101380"/>
          </a:xfrm>
          <a:prstGeom prst="roundRect">
            <a:avLst>
              <a:gd name="adj" fmla="val 4709"/>
            </a:avLst>
          </a:prstGeom>
          <a:solidFill>
            <a:srgbClr val="F1EEE7"/>
          </a:solidFill>
          <a:ln w="12700">
            <a:solidFill>
              <a:srgbClr val="E3DED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pic>
        <p:nvPicPr>
          <p:cNvPr id="4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0300" y="1861741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500" y="1851620"/>
            <a:ext cx="17305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81D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 intento: type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0300" y="2227511"/>
            <a:ext cx="4643755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Predecir si un título es película o serie. Pero </a:t>
            </a: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duration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listed_in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 </a:t>
            </a: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rating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determinan </a:t>
            </a: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casi al 100%: es fuga de datos. El modelo acertaría sin aprender ningún patrón real — y tampoco respondía la pregunta de inversión.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1100" y="1534120"/>
            <a:ext cx="5118100" cy="3114080"/>
          </a:xfrm>
          <a:prstGeom prst="roundRect">
            <a:avLst>
              <a:gd name="adj" fmla="val 489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s-PA"/>
          </a:p>
        </p:txBody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65900" y="1849041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96100" y="1838920"/>
            <a:ext cx="185188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Redefinida: es_fresco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65900" y="2214811"/>
            <a:ext cx="4643755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¿El título entró al catálogo dentro de su primer año de estreno ("fresco") o después ("de catálogo")? Mide directamente la estrategia de contenido: exclusivas nuevas frente a licenciamiento de contenido antiguo.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12800" y="4902200"/>
            <a:ext cx="10566400" cy="939800"/>
          </a:xfrm>
          <a:prstGeom prst="roundRect">
            <a:avLst>
              <a:gd name="adj" fmla="val 10811"/>
            </a:avLst>
          </a:prstGeom>
          <a:solidFill>
            <a:srgbClr val="C81D25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2" name="Text 8"/>
          <p:cNvSpPr/>
          <p:nvPr/>
        </p:nvSpPr>
        <p:spPr>
          <a:xfrm>
            <a:off x="1117600" y="5105400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Pregunta predictiva: ¿se puede predecir si un título entra fresco o de catálogo a partir de su tipo, género, clasificación y país?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2800" y="6238280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7 · Netflix Titles Dataset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2332"/>
              </a:gs>
              <a:gs pos="100000">
                <a:srgbClr val="10161F"/>
              </a:gs>
            </a:gsLst>
            <a:lin ang="2700000" scaled="0"/>
          </a:gradFill>
          <a:ln/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812800" y="22860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HIPÓTESIS — CONFIRMADA CON LOS DATOS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600970"/>
            <a:ext cx="981075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Las series entran al catálogo más frescas que las películas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3383260"/>
            <a:ext cx="28239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67.4%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12800" y="4323060"/>
            <a:ext cx="28239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las series son frescas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4112" y="3383260"/>
            <a:ext cx="28239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49.6%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4164112" y="4323060"/>
            <a:ext cx="28239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las películas son frescas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99154" y="3810000"/>
            <a:ext cx="1530846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+17.8 pp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490696" y="4358630"/>
            <a:ext cx="9393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diferencia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33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Datos y preparación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33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</a:t>
            </a: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netflix_titles.csv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8,807 títulos, 12 columnas. Limpieza justificada en cada paso: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953220"/>
            <a:ext cx="10566400" cy="535930"/>
          </a:xfrm>
          <a:prstGeom prst="roundRect">
            <a:avLst>
              <a:gd name="adj" fmla="val 18958"/>
            </a:avLst>
          </a:prstGeom>
          <a:solidFill>
            <a:srgbClr val="F1EEE7"/>
          </a:solidFill>
          <a:ln/>
        </p:spPr>
        <p:txBody>
          <a:bodyPr/>
          <a:lstStyle/>
          <a:p>
            <a:endParaRPr lang="es-PA"/>
          </a:p>
        </p:txBody>
      </p:sp>
      <p:pic>
        <p:nvPicPr>
          <p:cNvPr id="5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000" y="2105620"/>
            <a:ext cx="177800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6200" y="2105620"/>
            <a:ext cx="727967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títulos sin date_added (0.1%)</a:t>
            </a:r>
            <a:r>
              <a:rPr lang="en-US" sz="1300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descartaron: sin esa fecha no se puede calcular es_fresco.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12800" y="2590750"/>
            <a:ext cx="10566400" cy="767060"/>
          </a:xfrm>
          <a:prstGeom prst="roundRect">
            <a:avLst>
              <a:gd name="adj" fmla="val 13245"/>
            </a:avLst>
          </a:prstGeom>
          <a:solidFill>
            <a:srgbClr val="F1EEE7"/>
          </a:solidFill>
          <a:ln/>
        </p:spPr>
        <p:txBody>
          <a:bodyPr/>
          <a:lstStyle/>
          <a:p>
            <a:endParaRPr lang="es-PA"/>
          </a:p>
        </p:txBody>
      </p:sp>
      <p:pic>
        <p:nvPicPr>
          <p:cNvPr id="8" name="Image 1" descr="Wrench"/>
          <p:cNvPicPr>
            <a:picLocks noChangeAspect="1"/>
          </p:cNvPicPr>
          <p:nvPr/>
        </p:nvPicPr>
        <p:blipFill>
          <a:blip r:embed="rId4"/>
          <a:srcRect t="-602" b="-602"/>
          <a:stretch/>
        </p:blipFill>
        <p:spPr>
          <a:xfrm>
            <a:off x="1016000" y="2743150"/>
            <a:ext cx="144314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2714" y="2743150"/>
            <a:ext cx="1015918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valores de rating faltantes o inválidos</a:t>
            </a:r>
            <a:r>
              <a:rPr lang="en-US" sz="1300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(menos de 0.1%) se imputaron con la moda (TV-MA), incluyendo un error de desplazamiento de columnas del CSV original.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12800" y="3459411"/>
            <a:ext cx="10566400" cy="535930"/>
          </a:xfrm>
          <a:prstGeom prst="roundRect">
            <a:avLst>
              <a:gd name="adj" fmla="val 18958"/>
            </a:avLst>
          </a:prstGeom>
          <a:solidFill>
            <a:srgbClr val="F1EEE7"/>
          </a:solidFill>
          <a:ln/>
        </p:spPr>
        <p:txBody>
          <a:bodyPr/>
          <a:lstStyle/>
          <a:p>
            <a:endParaRPr lang="es-PA"/>
          </a:p>
        </p:txBody>
      </p:sp>
      <p:pic>
        <p:nvPicPr>
          <p:cNvPr id="11" name="Image 2" descr="Glob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6000" y="3611811"/>
            <a:ext cx="177800" cy="177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6200" y="3611811"/>
            <a:ext cx="76742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country faltante en 831 títulos (9.4%)</a:t>
            </a:r>
            <a:r>
              <a:rPr lang="en-US" sz="1300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mantuvo como categoría "Unknown" en vez de eliminarse.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4096941"/>
            <a:ext cx="10566400" cy="535930"/>
          </a:xfrm>
          <a:prstGeom prst="roundRect">
            <a:avLst>
              <a:gd name="adj" fmla="val 18958"/>
            </a:avLst>
          </a:prstGeom>
          <a:solidFill>
            <a:srgbClr val="F1EEE7"/>
          </a:solidFill>
          <a:ln/>
        </p:spPr>
        <p:txBody>
          <a:bodyPr/>
          <a:lstStyle/>
          <a:p>
            <a:endParaRPr lang="es-PA"/>
          </a:p>
        </p:txBody>
      </p:sp>
      <p:pic>
        <p:nvPicPr>
          <p:cNvPr id="14" name="Image 3" descr="Loc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6000" y="4249341"/>
            <a:ext cx="177800" cy="177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46200" y="4249341"/>
            <a:ext cx="1006920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release_year y año_agregado se excluyeron</a:t>
            </a:r>
            <a:r>
              <a:rPr lang="en-US" sz="1300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las predictoras: son las columnas con las que se construye es_fresco (fuga inversa).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12800" y="5252740"/>
            <a:ext cx="4055963" cy="589260"/>
          </a:xfrm>
          <a:prstGeom prst="roundRect">
            <a:avLst>
              <a:gd name="adj" fmla="val 1724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7" name="Text 11"/>
          <p:cNvSpPr/>
          <p:nvPr/>
        </p:nvSpPr>
        <p:spPr>
          <a:xfrm>
            <a:off x="1117600" y="5405140"/>
            <a:ext cx="354975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8,797 filas · 42 variables predictoras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12800" y="6238280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7 · Netflix Titles Dataset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33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Metodología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095"/>
            <a:ext cx="3346450" cy="3341439"/>
          </a:xfrm>
          <a:prstGeom prst="roundRect">
            <a:avLst>
              <a:gd name="adj" fmla="val 4466"/>
            </a:avLst>
          </a:prstGeom>
          <a:solidFill>
            <a:srgbClr val="FBFBF8"/>
          </a:solidFill>
          <a:ln w="6350">
            <a:solidFill>
              <a:srgbClr val="E3DED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pic>
        <p:nvPicPr>
          <p:cNvPr id="4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8550" y="187067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550" y="2226270"/>
            <a:ext cx="28647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División de datos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8550" y="2619970"/>
            <a:ext cx="2864739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 entrenamiento (7,037) / 20% prueba (1,760), estratificada sobre es_fresco, random_state=42 para reproducibilidad.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22775" y="1588095"/>
            <a:ext cx="3346450" cy="3341439"/>
          </a:xfrm>
          <a:prstGeom prst="roundRect">
            <a:avLst>
              <a:gd name="adj" fmla="val 4466"/>
            </a:avLst>
          </a:prstGeom>
          <a:solidFill>
            <a:srgbClr val="FBFBF8"/>
          </a:solidFill>
          <a:ln w="6350">
            <a:solidFill>
              <a:srgbClr val="E3DED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pic>
        <p:nvPicPr>
          <p:cNvPr id="8" name="Image 1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350" y="187067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5350" y="2226270"/>
            <a:ext cx="28647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comparados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705350" y="2619970"/>
            <a:ext cx="2864739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(DummyClassifier), regresión logística y árbol de decisión — cada uno contra el anterior.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29575" y="1588095"/>
            <a:ext cx="3346450" cy="3341439"/>
          </a:xfrm>
          <a:prstGeom prst="roundRect">
            <a:avLst>
              <a:gd name="adj" fmla="val 4466"/>
            </a:avLst>
          </a:prstGeom>
          <a:solidFill>
            <a:srgbClr val="FBFBF8"/>
          </a:solidFill>
          <a:ln w="6350">
            <a:solidFill>
              <a:srgbClr val="E3DED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pic>
        <p:nvPicPr>
          <p:cNvPr id="12" name="Image 2" descr="Setting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12150" y="187067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12150" y="2226270"/>
            <a:ext cx="28647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Ajuste de hiperparámetros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12150" y="2619970"/>
            <a:ext cx="2864739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GridSearchCV con 5 folds (cv=5): C=1 (logística), max_depth=12 (árbol) — sin mirar el conjunto de prueba.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12800" y="5237510"/>
            <a:ext cx="10566400" cy="604490"/>
          </a:xfrm>
          <a:prstGeom prst="roundRect">
            <a:avLst>
              <a:gd name="adj" fmla="val 16808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6" name="Text 11"/>
          <p:cNvSpPr/>
          <p:nvPr/>
        </p:nvSpPr>
        <p:spPr>
          <a:xfrm>
            <a:off x="1117600" y="5415310"/>
            <a:ext cx="10255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reportan </a:t>
            </a:r>
            <a:r>
              <a:rPr lang="en-US" sz="1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exactitud, precisión, recall y F1</a:t>
            </a:r>
            <a:r>
              <a:rPr lang="en-US" sz="1400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en entrenamiento y prueba, para detectar sobreajuste.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7 · Netflix Titles Dataset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33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Resultados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4120"/>
          <a:ext cx="10566401" cy="1651000"/>
        </p:xfrm>
        <a:graphic>
          <a:graphicData uri="http://schemas.openxmlformats.org/drawingml/2006/table">
            <a:tbl>
              <a:tblPr/>
              <a:tblGrid>
                <a:gridCol w="3522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1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1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1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Exact. train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Exact. test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F1 train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F1 test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0.550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0.550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0.710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0.710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Regresión logística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0.696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0.673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0.745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0.723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Árbol de decisión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0.740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0.673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0.771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0.711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2800" y="3451820"/>
            <a:ext cx="10566400" cy="904180"/>
          </a:xfrm>
          <a:prstGeom prst="roundRect">
            <a:avLst>
              <a:gd name="adj" fmla="val 11237"/>
            </a:avLst>
          </a:prstGeom>
          <a:solidFill>
            <a:srgbClr val="C81D25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" name="Text 2"/>
          <p:cNvSpPr/>
          <p:nvPr/>
        </p:nvSpPr>
        <p:spPr>
          <a:xfrm>
            <a:off x="1117600" y="3655020"/>
            <a:ext cx="1025550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Ambos modelos superan al baseline en </a:t>
            </a:r>
            <a:r>
              <a:rPr lang="en-US" sz="1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+12.3 puntos de exactitud</a:t>
            </a:r>
            <a:r>
              <a:rPr lang="en-US" sz="1400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El árbol sobreajusta más (brecha train–test de 6.7 pts vs. 2.3 en la logística), aunque generalice igual de bien en prueba.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7 · Netflix Titles Dataset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2332"/>
              </a:gs>
              <a:gs pos="100000">
                <a:srgbClr val="10161F"/>
              </a:gs>
            </a:gsLst>
            <a:lin ang="2700000" scaled="0"/>
          </a:gradFill>
          <a:ln/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812800" y="1734889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Conclusiones</a:t>
            </a:r>
            <a:endParaRPr lang="en-US" sz="3200" dirty="0"/>
          </a:p>
        </p:txBody>
      </p:sp>
      <p:pic>
        <p:nvPicPr>
          <p:cNvPr id="4" name="Image 0" descr="Verified"/>
          <p:cNvPicPr>
            <a:picLocks noChangeAspect="1"/>
          </p:cNvPicPr>
          <p:nvPr/>
        </p:nvPicPr>
        <p:blipFill>
          <a:blip r:embed="rId3"/>
          <a:srcRect l="-102" r="-102"/>
          <a:stretch/>
        </p:blipFill>
        <p:spPr>
          <a:xfrm>
            <a:off x="812800" y="2507010"/>
            <a:ext cx="146348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6148" y="2507010"/>
            <a:ext cx="106018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Género, tipo, clasificación y país </a:t>
            </a:r>
            <a:r>
              <a:rPr lang="en-US" sz="16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sí contienen señal real</a:t>
            </a:r>
            <a:r>
              <a:rPr lang="en-US" sz="16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sobre la frescura del catálogo — a diferencia de type, que no respondía ninguna pregunta de negocio.</a:t>
            </a:r>
            <a:endParaRPr lang="en-US" sz="1600" dirty="0"/>
          </a:p>
        </p:txBody>
      </p:sp>
      <p:pic>
        <p:nvPicPr>
          <p:cNvPr id="6" name="Image 1" descr="Star"/>
          <p:cNvPicPr>
            <a:picLocks noChangeAspect="1"/>
          </p:cNvPicPr>
          <p:nvPr/>
        </p:nvPicPr>
        <p:blipFill>
          <a:blip r:embed="rId4"/>
          <a:srcRect l="-1254" r="-1254"/>
          <a:stretch/>
        </p:blipFill>
        <p:spPr>
          <a:xfrm>
            <a:off x="812800" y="3253730"/>
            <a:ext cx="123676" cy="20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3476" y="3253730"/>
            <a:ext cx="1062519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rating_TV-MA</a:t>
            </a:r>
            <a:r>
              <a:rPr lang="en-US" sz="16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 la variable más influyente: el contenido para audiencia madura tiende a entrar más fresco. Le siguen género documental, tipo y país (España: más fresco; Japón: menos).</a:t>
            </a:r>
            <a:endParaRPr lang="en-US" sz="1600" dirty="0"/>
          </a:p>
        </p:txBody>
      </p:sp>
      <p:pic>
        <p:nvPicPr>
          <p:cNvPr id="8" name="Image 2" descr="Warning"/>
          <p:cNvPicPr>
            <a:picLocks noChangeAspect="1"/>
          </p:cNvPicPr>
          <p:nvPr/>
        </p:nvPicPr>
        <p:blipFill>
          <a:blip r:embed="rId5"/>
          <a:srcRect l="-279" r="-279"/>
          <a:stretch/>
        </p:blipFill>
        <p:spPr>
          <a:xfrm>
            <a:off x="812800" y="4000450"/>
            <a:ext cx="178792" cy="203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18592" y="4000450"/>
            <a:ext cx="1056842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Limitación:</a:t>
            </a:r>
            <a:r>
              <a:rPr lang="en-US" sz="16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67% de exactitud es un punto de partida — variables como elenco o popularidad externa podrían mejorar el modelo.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12800" y="487417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A9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7 · Preguntas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38070-D767-CE83-5B70-DA536BDD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652EEDC-A09C-6521-79D6-6F06A4B97974}"/>
              </a:ext>
            </a:extLst>
          </p:cNvPr>
          <p:cNvSpPr/>
          <p:nvPr/>
        </p:nvSpPr>
        <p:spPr>
          <a:xfrm>
            <a:off x="812800" y="1734888"/>
            <a:ext cx="10883392" cy="3206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680"/>
              </a:lnSpc>
              <a:buNone/>
            </a:pPr>
            <a:r>
              <a:rPr lang="en-US" sz="88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GRACIAS </a:t>
            </a:r>
            <a:endParaRPr lang="en-US" sz="88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55DB7CB-197F-50AC-2E2D-B8F10ECE7B3C}"/>
              </a:ext>
            </a:extLst>
          </p:cNvPr>
          <p:cNvSpPr/>
          <p:nvPr/>
        </p:nvSpPr>
        <p:spPr>
          <a:xfrm>
            <a:off x="1118592" y="4000450"/>
            <a:ext cx="1056842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endParaRPr lang="en-US" sz="1600" dirty="0"/>
          </a:p>
        </p:txBody>
      </p:sp>
      <p:pic>
        <p:nvPicPr>
          <p:cNvPr id="13" name="Imagen 12" descr="Logos para Medios Digitales | Universidad Tecnológica de Panamá">
            <a:extLst>
              <a:ext uri="{FF2B5EF4-FFF2-40B4-BE49-F238E27FC236}">
                <a16:creationId xmlns:a16="http://schemas.microsoft.com/office/drawing/2014/main" id="{A54172E8-33C5-0473-71D8-BB9F3B3F3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520" y="4033991"/>
            <a:ext cx="1813952" cy="181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65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1159</Words>
  <Application>Microsoft Office PowerPoint</Application>
  <PresentationFormat>Panorámica</PresentationFormat>
  <Paragraphs>94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EB Garamond</vt:lpstr>
      <vt:lpstr>IBM Plex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— Predicción de Frescura del Catálogo (Equipo 7)</dc:title>
  <dc:subject>PptxGenJS Presentation</dc:subject>
  <dc:creator>PptxGenJS</dc:creator>
  <cp:lastModifiedBy>Angelo Navarro P.</cp:lastModifiedBy>
  <cp:revision>1</cp:revision>
  <dcterms:created xsi:type="dcterms:W3CDTF">2026-09-21T00:31:07Z</dcterms:created>
  <dcterms:modified xsi:type="dcterms:W3CDTF">2026-09-23T23:24:51Z</dcterms:modified>
</cp:coreProperties>
</file>